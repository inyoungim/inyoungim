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70" autoAdjust="0"/>
    <p:restoredTop sz="94660"/>
  </p:normalViewPr>
  <p:slideViewPr>
    <p:cSldViewPr snapToGrid="0">
      <p:cViewPr varScale="1">
        <p:scale>
          <a:sx n="79" d="100"/>
          <a:sy n="79" d="100"/>
        </p:scale>
        <p:origin x="1434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.emf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1C2B-73A2-4DB1-94C3-90D12588F1E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3165-BDD7-4543-9C63-8E29E5C275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94573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1C2B-73A2-4DB1-94C3-90D12588F1E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3165-BDD7-4543-9C63-8E29E5C275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6922000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1C2B-73A2-4DB1-94C3-90D12588F1E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3165-BDD7-4543-9C63-8E29E5C275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707217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1C2B-73A2-4DB1-94C3-90D12588F1E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3165-BDD7-4543-9C63-8E29E5C275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6017323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1C2B-73A2-4DB1-94C3-90D12588F1E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3165-BDD7-4543-9C63-8E29E5C275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7300741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1C2B-73A2-4DB1-94C3-90D12588F1E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3165-BDD7-4543-9C63-8E29E5C275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1109479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1C2B-73A2-4DB1-94C3-90D12588F1E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3165-BDD7-4543-9C63-8E29E5C275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855187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1C2B-73A2-4DB1-94C3-90D12588F1E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3165-BDD7-4543-9C63-8E29E5C275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250693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1C2B-73A2-4DB1-94C3-90D12588F1E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3165-BDD7-4543-9C63-8E29E5C275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737511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1C2B-73A2-4DB1-94C3-90D12588F1E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3165-BDD7-4543-9C63-8E29E5C275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963043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E121C2B-73A2-4DB1-94C3-90D12588F1E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BE33165-BDD7-4543-9C63-8E29E5C275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658144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E121C2B-73A2-4DB1-94C3-90D12588F1E1}" type="datetimeFigureOut">
              <a:rPr lang="ko-KR" altLang="en-US" smtClean="0"/>
              <a:t>2025-11-14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E33165-BDD7-4543-9C63-8E29E5C27520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01679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4" Type="http://schemas.openxmlformats.org/officeDocument/2006/relationships/image" Target="../media/image1.emf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B41145F-5B1F-4A7D-AF97-8DCB963639F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2950" y="1097979"/>
            <a:ext cx="8420100" cy="1655762"/>
          </a:xfrm>
        </p:spPr>
        <p:txBody>
          <a:bodyPr anchor="ctr">
            <a:normAutofit/>
          </a:bodyPr>
          <a:lstStyle/>
          <a:p>
            <a:r>
              <a:rPr lang="ko-KR" altLang="en-US" sz="4000" dirty="0"/>
              <a:t>홈페이지 변경 안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9259166-9671-4D21-A124-5BD9F346422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856121" y="3602038"/>
            <a:ext cx="4193759" cy="1655762"/>
          </a:xfrm>
        </p:spPr>
        <p:txBody>
          <a:bodyPr/>
          <a:lstStyle/>
          <a:p>
            <a:pPr marL="457200" indent="-457200">
              <a:buAutoNum type="arabicPeriod"/>
            </a:pPr>
            <a:r>
              <a:rPr lang="ko-KR" altLang="en-US" dirty="0"/>
              <a:t>홈페이지 현황 </a:t>
            </a:r>
            <a:r>
              <a:rPr lang="en-US" altLang="ko-KR" dirty="0"/>
              <a:t>/ </a:t>
            </a:r>
            <a:r>
              <a:rPr lang="ko-KR" altLang="en-US" dirty="0"/>
              <a:t>변경배경</a:t>
            </a:r>
            <a:endParaRPr lang="en-US" altLang="ko-KR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6BAFD10C-A705-4179-94AF-B1B5D805DCA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504527" y="5724225"/>
            <a:ext cx="2896947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ko-KR" altLang="en-US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오산교회 방송실</a:t>
            </a:r>
            <a:r>
              <a:rPr kumimoji="1" lang="en-US" altLang="ko-KR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/</a:t>
            </a:r>
            <a:r>
              <a:rPr kumimoji="1" lang="ko-KR" altLang="en-US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인터넷부</a:t>
            </a:r>
          </a:p>
        </p:txBody>
      </p:sp>
      <p:sp>
        <p:nvSpPr>
          <p:cNvPr id="5" name="TextBox 3">
            <a:extLst>
              <a:ext uri="{FF2B5EF4-FFF2-40B4-BE49-F238E27FC236}">
                <a16:creationId xmlns:a16="http://schemas.microsoft.com/office/drawing/2014/main" id="{3215595A-17E6-42E8-865F-3C5B31E2116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432665" y="5384249"/>
            <a:ext cx="1040670" cy="276999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>
            <a:spAutoFit/>
          </a:bodyPr>
          <a:lstStyle/>
          <a:p>
            <a:pPr algn="ctr"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2025. 11. 14</a:t>
            </a:r>
            <a:endParaRPr kumimoji="1" lang="ko-KR" altLang="en-US" sz="1200" dirty="0">
              <a:solidFill>
                <a:srgbClr val="000000"/>
              </a:solidFill>
              <a:latin typeface="LG스마트체2.0 Regular" panose="020B0600000101010101" pitchFamily="50" charset="-127"/>
              <a:ea typeface="LG스마트체2.0 Regular" panose="020B0600000101010101" pitchFamily="50" charset="-127"/>
            </a:endParaRPr>
          </a:p>
        </p:txBody>
      </p:sp>
      <p:sp>
        <p:nvSpPr>
          <p:cNvPr id="6" name="Text Box 34">
            <a:extLst>
              <a:ext uri="{FF2B5EF4-FFF2-40B4-BE49-F238E27FC236}">
                <a16:creationId xmlns:a16="http://schemas.microsoft.com/office/drawing/2014/main" id="{7114C540-637C-45E5-835B-5BF10BAC8F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342606" y="2987440"/>
            <a:ext cx="1220788" cy="3365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lIns="92075" tIns="46038" rIns="92075" bIns="46038">
            <a:spAutoFit/>
          </a:bodyPr>
          <a:lstStyle/>
          <a:p>
            <a:pPr algn="ctr" defTabSz="762000" fontAlgn="base">
              <a:spcBef>
                <a:spcPct val="0"/>
              </a:spcBef>
              <a:spcAft>
                <a:spcPct val="50000"/>
              </a:spcAft>
            </a:pPr>
            <a:r>
              <a:rPr kumimoji="1" lang="ko-KR" altLang="en-US" sz="1600" u="sng" dirty="0">
                <a:solidFill>
                  <a:srgbClr val="000000"/>
                </a:solidFill>
                <a:latin typeface="LG스마트체2.0 Regular" panose="020B0600000101010101" pitchFamily="50" charset="-127"/>
                <a:ea typeface="LG스마트체2.0 Regular" panose="020B0600000101010101" pitchFamily="50" charset="-127"/>
              </a:rPr>
              <a:t>목  차</a:t>
            </a:r>
          </a:p>
        </p:txBody>
      </p:sp>
      <p:cxnSp>
        <p:nvCxnSpPr>
          <p:cNvPr id="7" name="직선 연결선 2">
            <a:extLst>
              <a:ext uri="{FF2B5EF4-FFF2-40B4-BE49-F238E27FC236}">
                <a16:creationId xmlns:a16="http://schemas.microsoft.com/office/drawing/2014/main" id="{A947283F-38FC-4FAA-8AF1-CE1A7609733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759803" y="2286024"/>
            <a:ext cx="4386394" cy="0"/>
          </a:xfrm>
          <a:prstGeom prst="line">
            <a:avLst/>
          </a:prstGeom>
          <a:noFill/>
          <a:ln w="6350" algn="ctr">
            <a:solidFill>
              <a:srgbClr val="4B5E61"/>
            </a:solidFill>
            <a:round/>
            <a:headEnd/>
            <a:tailEnd/>
          </a:ln>
        </p:spPr>
      </p:cxnSp>
    </p:spTree>
    <p:extLst>
      <p:ext uri="{BB962C8B-B14F-4D97-AF65-F5344CB8AC3E}">
        <p14:creationId xmlns:p14="http://schemas.microsoft.com/office/powerpoint/2010/main" val="31110366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022539EF-8DBA-48F6-B595-CDEA4057CF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53840" y="121287"/>
            <a:ext cx="9398318" cy="634617"/>
          </a:xfrm>
        </p:spPr>
        <p:txBody>
          <a:bodyPr>
            <a:normAutofit/>
          </a:bodyPr>
          <a:lstStyle/>
          <a:p>
            <a:r>
              <a:rPr lang="en-US" altLang="ko-KR" sz="2800" dirty="0"/>
              <a:t>1. </a:t>
            </a:r>
            <a:r>
              <a:rPr lang="ko-KR" altLang="en-US" sz="2800" dirty="0"/>
              <a:t>홈페이지 현황</a:t>
            </a:r>
            <a:r>
              <a:rPr lang="en-US" altLang="ko-KR" sz="2800" dirty="0"/>
              <a:t>/ </a:t>
            </a:r>
            <a:r>
              <a:rPr lang="ko-KR" altLang="en-US" sz="2800" dirty="0"/>
              <a:t>변경 배경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25C4DE1-7ECC-4D90-A833-2987A6ACE7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3674" y="2224155"/>
            <a:ext cx="4300035" cy="1884549"/>
          </a:xfrm>
        </p:spPr>
        <p:txBody>
          <a:bodyPr>
            <a:normAutofit/>
          </a:bodyPr>
          <a:lstStyle/>
          <a:p>
            <a:pPr>
              <a:buFont typeface="Wingdings" panose="05000000000000000000" pitchFamily="2" charset="2"/>
              <a:buChar char="§"/>
            </a:pPr>
            <a:r>
              <a:rPr lang="ko-KR" altLang="en-US" sz="1600" b="1" dirty="0"/>
              <a:t>년간 소요비용 </a:t>
            </a:r>
            <a:r>
              <a:rPr lang="en-US" altLang="ko-KR" sz="1600" b="1" dirty="0"/>
              <a:t>: 162</a:t>
            </a:r>
            <a:r>
              <a:rPr lang="ko-KR" altLang="en-US" sz="1600" b="1" dirty="0"/>
              <a:t>만</a:t>
            </a:r>
            <a:endParaRPr lang="en-US" altLang="ko-KR" sz="16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600" dirty="0"/>
              <a:t>운영 주체 </a:t>
            </a:r>
            <a:r>
              <a:rPr lang="en-US" altLang="ko-KR" sz="1600" dirty="0"/>
              <a:t>: </a:t>
            </a:r>
            <a:r>
              <a:rPr lang="ko-KR" altLang="en-US" sz="1600" dirty="0" err="1"/>
              <a:t>트리엠</a:t>
            </a:r>
            <a:r>
              <a:rPr lang="en-US" altLang="ko-KR" sz="1600" dirty="0"/>
              <a:t>(</a:t>
            </a:r>
            <a:r>
              <a:rPr lang="ko-KR" altLang="en-US" sz="1600" dirty="0"/>
              <a:t>구 교회마을</a:t>
            </a:r>
            <a:r>
              <a:rPr lang="en-US" altLang="ko-KR" sz="1600" dirty="0"/>
              <a:t>)</a:t>
            </a:r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600" dirty="0"/>
              <a:t>서비스 현황</a:t>
            </a:r>
            <a:br>
              <a:rPr lang="en-US" altLang="ko-KR" sz="1600" dirty="0"/>
            </a:br>
            <a:r>
              <a:rPr lang="en-US" altLang="ko-KR" sz="1600" dirty="0"/>
              <a:t> </a:t>
            </a:r>
            <a:r>
              <a:rPr lang="en-US" altLang="ko-KR" sz="1200" dirty="0"/>
              <a:t>- </a:t>
            </a:r>
            <a:r>
              <a:rPr lang="ko-KR" altLang="en-US" sz="1200" dirty="0"/>
              <a:t>오산교회 구 홈페이지는 교회마을 신규 홈페이지는 </a:t>
            </a:r>
            <a:r>
              <a:rPr lang="ko-KR" altLang="en-US" sz="1200" dirty="0" err="1"/>
              <a:t>트리엠을</a:t>
            </a:r>
            <a:r>
              <a:rPr lang="ko-KR" altLang="en-US" sz="1200" dirty="0"/>
              <a:t> 통해 구축 운영되고 있습니다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신규 홈페이지는 </a:t>
            </a:r>
            <a:r>
              <a:rPr lang="en-US" altLang="ko-KR" sz="1200" dirty="0"/>
              <a:t>2021</a:t>
            </a:r>
            <a:r>
              <a:rPr lang="ko-KR" altLang="en-US" sz="1200" dirty="0"/>
              <a:t>년도부터 구축 운영 되고 있습니다</a:t>
            </a:r>
            <a:r>
              <a:rPr lang="en-US" altLang="ko-KR" sz="1200" dirty="0"/>
              <a:t>.</a:t>
            </a:r>
            <a:r>
              <a:rPr lang="ko-KR" altLang="en-US" sz="1200" dirty="0"/>
              <a:t> </a:t>
            </a:r>
            <a:br>
              <a:rPr lang="en-US" altLang="ko-KR" sz="1200" dirty="0"/>
            </a:br>
            <a:r>
              <a:rPr lang="en-US" altLang="ko-KR" sz="1200" dirty="0"/>
              <a:t>- 2015</a:t>
            </a:r>
            <a:r>
              <a:rPr lang="ko-KR" altLang="en-US" sz="1200" dirty="0"/>
              <a:t>년 부터 </a:t>
            </a:r>
            <a:r>
              <a:rPr lang="ko-KR" altLang="en-US" sz="1200" dirty="0" err="1"/>
              <a:t>트리엠으로</a:t>
            </a:r>
            <a:r>
              <a:rPr lang="ko-KR" altLang="en-US" sz="1200" dirty="0"/>
              <a:t> 회사 상호 변경 및 주요 고객층을 교회 → 일반사용자로 서비스 변경하였습니다</a:t>
            </a:r>
            <a:r>
              <a:rPr lang="en-US" altLang="ko-KR" sz="1200" dirty="0"/>
              <a:t>.</a:t>
            </a:r>
            <a:endParaRPr lang="en-US" altLang="ko-KR" sz="1600" dirty="0"/>
          </a:p>
        </p:txBody>
      </p:sp>
      <p:sp>
        <p:nvSpPr>
          <p:cNvPr id="4" name="내용 개체 틀 2">
            <a:extLst>
              <a:ext uri="{FF2B5EF4-FFF2-40B4-BE49-F238E27FC236}">
                <a16:creationId xmlns:a16="http://schemas.microsoft.com/office/drawing/2014/main" id="{FDBABE30-A910-448A-83D5-85FFDE9ED571}"/>
              </a:ext>
            </a:extLst>
          </p:cNvPr>
          <p:cNvSpPr txBox="1">
            <a:spLocks/>
          </p:cNvSpPr>
          <p:nvPr/>
        </p:nvSpPr>
        <p:spPr>
          <a:xfrm>
            <a:off x="144112" y="1492386"/>
            <a:ext cx="4699159" cy="514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600" b="1" dirty="0"/>
              <a:t>현재 홈페이지</a:t>
            </a:r>
          </a:p>
        </p:txBody>
      </p:sp>
      <p:cxnSp>
        <p:nvCxnSpPr>
          <p:cNvPr id="6" name="직선 연결선 5">
            <a:extLst>
              <a:ext uri="{FF2B5EF4-FFF2-40B4-BE49-F238E27FC236}">
                <a16:creationId xmlns:a16="http://schemas.microsoft.com/office/drawing/2014/main" id="{9A514905-D589-48B2-82E6-0088CB3F2074}"/>
              </a:ext>
            </a:extLst>
          </p:cNvPr>
          <p:cNvCxnSpPr>
            <a:cxnSpLocks/>
          </p:cNvCxnSpPr>
          <p:nvPr/>
        </p:nvCxnSpPr>
        <p:spPr>
          <a:xfrm>
            <a:off x="593099" y="1980065"/>
            <a:ext cx="38011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8" name="내용 개체 틀 3">
            <a:extLst>
              <a:ext uri="{FF2B5EF4-FFF2-40B4-BE49-F238E27FC236}">
                <a16:creationId xmlns:a16="http://schemas.microsoft.com/office/drawing/2014/main" id="{E17ED58A-252E-4438-B273-4F1A148D865C}"/>
              </a:ext>
            </a:extLst>
          </p:cNvPr>
          <p:cNvSpPr txBox="1">
            <a:spLocks/>
          </p:cNvSpPr>
          <p:nvPr/>
        </p:nvSpPr>
        <p:spPr bwMode="auto">
          <a:xfrm>
            <a:off x="253840" y="780288"/>
            <a:ext cx="9398318" cy="72620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eaLnBrk="0" hangingPunct="0">
              <a:defRPr kumimoji="1" sz="2000" b="1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1pPr>
            <a:lvl2pPr marL="742950" indent="-285750" eaLnBrk="0" hangingPunct="0">
              <a:defRPr kumimoji="1" sz="2000" b="1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2pPr>
            <a:lvl3pPr marL="1143000" indent="-228600" eaLnBrk="0" hangingPunct="0">
              <a:defRPr kumimoji="1" sz="2000" b="1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3pPr>
            <a:lvl4pPr marL="1600200" indent="-228600" eaLnBrk="0" hangingPunct="0">
              <a:defRPr kumimoji="1" sz="2000" b="1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4pPr>
            <a:lvl5pPr marL="2057400" indent="-228600" eaLnBrk="0" hangingPunct="0">
              <a:defRPr kumimoji="1" sz="2000" b="1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 sz="2000" b="1">
                <a:solidFill>
                  <a:schemeClr val="tx1"/>
                </a:solidFill>
                <a:latin typeface="Trebuchet MS" panose="020B0603020202020204" pitchFamily="34" charset="0"/>
                <a:ea typeface="굴림" panose="020B0600000101010101" pitchFamily="50" charset="-127"/>
              </a:defRPr>
            </a:lvl9pPr>
          </a:lstStyle>
          <a:p>
            <a:pPr>
              <a:lnSpc>
                <a:spcPts val="2200"/>
              </a:lnSpc>
              <a:buFontTx/>
              <a:buNone/>
            </a:pPr>
            <a:r>
              <a:rPr lang="ko-KR" altLang="en-US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현재 운영중인 홈페이지 가격이 경쟁사 대비 비싸고</a:t>
            </a:r>
            <a:r>
              <a:rPr lang="en-US" altLang="ko-KR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, </a:t>
            </a:r>
            <a:r>
              <a:rPr lang="ko-KR" altLang="en-US" sz="1400" dirty="0" err="1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트리엠사의</a:t>
            </a:r>
            <a:r>
              <a:rPr lang="ko-KR" altLang="en-US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 주요 서비스 대상이 교회 홈페이지 구축 → 조립 컴퓨터</a:t>
            </a:r>
            <a:r>
              <a:rPr lang="en-US" altLang="ko-KR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/LED </a:t>
            </a:r>
            <a:r>
              <a:rPr lang="ko-KR" altLang="en-US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제품 판매로 변경되어 교회 홈페이지 구축이 주요 서비스 대상인 업체로 변경하고자 합니다</a:t>
            </a:r>
            <a:r>
              <a:rPr lang="en-US" altLang="ko-KR" sz="1400" dirty="0">
                <a:latin typeface="LG스마트체2.0 Light" panose="020B0600000101010101" pitchFamily="50" charset="-127"/>
                <a:ea typeface="LG스마트체2.0 Light" panose="020B0600000101010101" pitchFamily="50" charset="-127"/>
              </a:rPr>
              <a:t>.</a:t>
            </a:r>
            <a:endParaRPr lang="ko-KR" altLang="en-US" sz="1400" dirty="0">
              <a:latin typeface="LG스마트체2.0 Light" panose="020B0600000101010101" pitchFamily="50" charset="-127"/>
              <a:ea typeface="LG스마트체2.0 Light" panose="020B0600000101010101" pitchFamily="50" charset="-127"/>
            </a:endParaRPr>
          </a:p>
        </p:txBody>
      </p:sp>
      <p:sp>
        <p:nvSpPr>
          <p:cNvPr id="9" name="내용 개체 틀 2">
            <a:extLst>
              <a:ext uri="{FF2B5EF4-FFF2-40B4-BE49-F238E27FC236}">
                <a16:creationId xmlns:a16="http://schemas.microsoft.com/office/drawing/2014/main" id="{7F209CAC-E279-4904-8D0C-52109D9026A9}"/>
              </a:ext>
            </a:extLst>
          </p:cNvPr>
          <p:cNvSpPr txBox="1">
            <a:spLocks/>
          </p:cNvSpPr>
          <p:nvPr/>
        </p:nvSpPr>
        <p:spPr>
          <a:xfrm>
            <a:off x="5209031" y="1492386"/>
            <a:ext cx="4699159" cy="51422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Font typeface="Arial" panose="020B0604020202020204" pitchFamily="34" charset="0"/>
              <a:buNone/>
            </a:pPr>
            <a:r>
              <a:rPr lang="ko-KR" altLang="en-US" sz="1600" b="1" dirty="0"/>
              <a:t>변경 홈페이지</a:t>
            </a:r>
          </a:p>
        </p:txBody>
      </p:sp>
      <p:cxnSp>
        <p:nvCxnSpPr>
          <p:cNvPr id="10" name="직선 연결선 9">
            <a:extLst>
              <a:ext uri="{FF2B5EF4-FFF2-40B4-BE49-F238E27FC236}">
                <a16:creationId xmlns:a16="http://schemas.microsoft.com/office/drawing/2014/main" id="{23CDF418-59E0-430E-9674-4070233E94D8}"/>
              </a:ext>
            </a:extLst>
          </p:cNvPr>
          <p:cNvCxnSpPr>
            <a:cxnSpLocks/>
          </p:cNvCxnSpPr>
          <p:nvPr/>
        </p:nvCxnSpPr>
        <p:spPr>
          <a:xfrm>
            <a:off x="5658018" y="1980065"/>
            <a:ext cx="3801184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1" name="내용 개체 틀 2">
            <a:extLst>
              <a:ext uri="{FF2B5EF4-FFF2-40B4-BE49-F238E27FC236}">
                <a16:creationId xmlns:a16="http://schemas.microsoft.com/office/drawing/2014/main" id="{5650BAC8-0D81-4FB6-A2F0-D77731693751}"/>
              </a:ext>
            </a:extLst>
          </p:cNvPr>
          <p:cNvSpPr txBox="1">
            <a:spLocks/>
          </p:cNvSpPr>
          <p:nvPr/>
        </p:nvSpPr>
        <p:spPr>
          <a:xfrm>
            <a:off x="5408593" y="2224155"/>
            <a:ext cx="4300035" cy="188454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1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1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>
              <a:buFont typeface="Wingdings" panose="05000000000000000000" pitchFamily="2" charset="2"/>
              <a:buChar char="§"/>
            </a:pPr>
            <a:r>
              <a:rPr lang="ko-KR" altLang="en-US" sz="1600" b="1" dirty="0"/>
              <a:t>년간 소요비용 </a:t>
            </a:r>
            <a:r>
              <a:rPr lang="en-US" altLang="ko-KR" sz="1600" b="1" dirty="0"/>
              <a:t>: 28.6</a:t>
            </a:r>
            <a:r>
              <a:rPr lang="ko-KR" altLang="en-US" sz="1600" b="1" dirty="0"/>
              <a:t>만</a:t>
            </a:r>
            <a:endParaRPr lang="en-US" altLang="ko-KR" sz="1600" b="1" dirty="0"/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600" dirty="0"/>
              <a:t>운영 주체 </a:t>
            </a:r>
            <a:r>
              <a:rPr lang="en-US" altLang="ko-KR" sz="1600" dirty="0"/>
              <a:t>: </a:t>
            </a:r>
            <a:r>
              <a:rPr lang="ko-KR" altLang="en-US" sz="1600" dirty="0"/>
              <a:t>교회사랑넷</a:t>
            </a:r>
            <a:endParaRPr lang="en-US" altLang="ko-KR" sz="1600" dirty="0"/>
          </a:p>
          <a:p>
            <a:pPr>
              <a:buFont typeface="Wingdings" panose="05000000000000000000" pitchFamily="2" charset="2"/>
              <a:buChar char="§"/>
            </a:pPr>
            <a:r>
              <a:rPr lang="ko-KR" altLang="en-US" sz="1600" dirty="0"/>
              <a:t>서비스 현황</a:t>
            </a:r>
            <a:br>
              <a:rPr lang="en-US" altLang="ko-KR" sz="1600" dirty="0"/>
            </a:br>
            <a:r>
              <a:rPr lang="en-US" altLang="ko-KR" sz="1200" dirty="0"/>
              <a:t> - 24</a:t>
            </a:r>
            <a:r>
              <a:rPr lang="ko-KR" altLang="en-US" sz="1200" dirty="0"/>
              <a:t>년간 </a:t>
            </a:r>
            <a:r>
              <a:rPr lang="en-US" altLang="ko-KR" sz="1200" dirty="0"/>
              <a:t>6800</a:t>
            </a:r>
            <a:r>
              <a:rPr lang="ko-KR" altLang="en-US" sz="1200" dirty="0"/>
              <a:t>여개 교회 홈페이지 제작 하고 있습니다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홈페이지 제작 전문 업체로 모바일</a:t>
            </a:r>
            <a:r>
              <a:rPr lang="en-US" altLang="ko-KR" sz="1200" dirty="0"/>
              <a:t>/</a:t>
            </a:r>
            <a:r>
              <a:rPr lang="ko-KR" altLang="en-US" sz="1200" dirty="0"/>
              <a:t>신규 트랜드를 반영하여 홈페이지 제작합니다</a:t>
            </a:r>
            <a:r>
              <a:rPr lang="en-US" altLang="ko-KR" sz="1200" dirty="0"/>
              <a:t>.</a:t>
            </a:r>
            <a:br>
              <a:rPr lang="en-US" altLang="ko-KR" sz="1200" dirty="0"/>
            </a:br>
            <a:r>
              <a:rPr lang="en-US" altLang="ko-KR" sz="1200" dirty="0"/>
              <a:t>- </a:t>
            </a:r>
            <a:r>
              <a:rPr lang="ko-KR" altLang="en-US" sz="1200" dirty="0"/>
              <a:t>자체 관리 페이지 내장하여 메인</a:t>
            </a:r>
            <a:r>
              <a:rPr lang="en-US" altLang="ko-KR" sz="1200" dirty="0"/>
              <a:t>/</a:t>
            </a:r>
            <a:r>
              <a:rPr lang="ko-KR" altLang="en-US" sz="1200" dirty="0"/>
              <a:t>서브 페이지 화면 </a:t>
            </a:r>
            <a:r>
              <a:rPr lang="ko-KR" altLang="en-US" sz="1200" dirty="0" err="1"/>
              <a:t>변경등을</a:t>
            </a:r>
            <a:r>
              <a:rPr lang="ko-KR" altLang="en-US" sz="1200" dirty="0"/>
              <a:t> 유지보수하기 편하게 구성하였습니다</a:t>
            </a:r>
            <a:r>
              <a:rPr lang="en-US" altLang="ko-KR" sz="1200" dirty="0"/>
              <a:t>.</a:t>
            </a:r>
          </a:p>
        </p:txBody>
      </p:sp>
      <p:sp>
        <p:nvSpPr>
          <p:cNvPr id="12" name="화살표: 오른쪽 11">
            <a:extLst>
              <a:ext uri="{FF2B5EF4-FFF2-40B4-BE49-F238E27FC236}">
                <a16:creationId xmlns:a16="http://schemas.microsoft.com/office/drawing/2014/main" id="{ACC20EEE-A023-48E2-95B0-BDB592231603}"/>
              </a:ext>
            </a:extLst>
          </p:cNvPr>
          <p:cNvSpPr/>
          <p:nvPr/>
        </p:nvSpPr>
        <p:spPr>
          <a:xfrm>
            <a:off x="4860211" y="1980065"/>
            <a:ext cx="305638" cy="2128639"/>
          </a:xfrm>
          <a:prstGeom prst="rightArrow">
            <a:avLst>
              <a:gd name="adj1" fmla="val 50000"/>
              <a:gd name="adj2" fmla="val 100000"/>
            </a:avLst>
          </a:prstGeom>
          <a:solidFill>
            <a:schemeClr val="bg1">
              <a:lumMod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3" name="직사각형 216">
            <a:extLst>
              <a:ext uri="{FF2B5EF4-FFF2-40B4-BE49-F238E27FC236}">
                <a16:creationId xmlns:a16="http://schemas.microsoft.com/office/drawing/2014/main" id="{A47A0D2B-2990-41F5-ACEE-459DE4302D19}"/>
              </a:ext>
            </a:extLst>
          </p:cNvPr>
          <p:cNvSpPr>
            <a:spLocks noChangeArrowheads="1"/>
          </p:cNvSpPr>
          <p:nvPr/>
        </p:nvSpPr>
        <p:spPr bwMode="auto">
          <a:xfrm>
            <a:off x="343674" y="4431720"/>
            <a:ext cx="3716215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fontAlgn="base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400" b="1" dirty="0">
                <a:solidFill>
                  <a:srgbClr val="000000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Arial" pitchFamily="34" charset="0"/>
              </a:rPr>
              <a:t>※ 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Arial" pitchFamily="34" charset="0"/>
              </a:rPr>
              <a:t>홈페이지 </a:t>
            </a:r>
            <a:r>
              <a:rPr kumimoji="1" lang="ko-KR" altLang="en-US" sz="1400" b="1" dirty="0" err="1">
                <a:solidFill>
                  <a:srgbClr val="000000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Arial" pitchFamily="34" charset="0"/>
              </a:rPr>
              <a:t>변경시</a:t>
            </a:r>
            <a:r>
              <a:rPr kumimoji="1" lang="ko-KR" altLang="en-US" sz="1400" b="1" dirty="0">
                <a:solidFill>
                  <a:srgbClr val="000000"/>
                </a:solidFill>
                <a:latin typeface="LG스마트체2.0 Light" panose="020B0600000101010101" pitchFamily="50" charset="-127"/>
                <a:ea typeface="LG스마트체2.0 Light" panose="020B0600000101010101" pitchFamily="50" charset="-127"/>
                <a:cs typeface="Arial" pitchFamily="34" charset="0"/>
              </a:rPr>
              <a:t> 초기 투자 비용</a:t>
            </a:r>
          </a:p>
        </p:txBody>
      </p:sp>
      <p:graphicFrame>
        <p:nvGraphicFramePr>
          <p:cNvPr id="14" name="Group 191">
            <a:extLst>
              <a:ext uri="{FF2B5EF4-FFF2-40B4-BE49-F238E27FC236}">
                <a16:creationId xmlns:a16="http://schemas.microsoft.com/office/drawing/2014/main" id="{CCB95E99-DF8D-455F-A9BD-4AA8B994963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39840066"/>
              </p:ext>
            </p:extLst>
          </p:nvPr>
        </p:nvGraphicFramePr>
        <p:xfrm>
          <a:off x="438912" y="4766044"/>
          <a:ext cx="8924544" cy="1815479"/>
        </p:xfrm>
        <a:graphic>
          <a:graphicData uri="http://schemas.openxmlformats.org/drawingml/2006/table">
            <a:tbl>
              <a:tblPr/>
              <a:tblGrid>
                <a:gridCol w="13072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68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9436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415489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94236">
                <a:tc gridSpan="2"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항목</a:t>
                      </a:r>
                    </a:p>
                  </a:txBody>
                  <a:tcPr marL="84406" marR="84406" marT="33231" marB="33231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6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비용</a:t>
                      </a:r>
                    </a:p>
                  </a:txBody>
                  <a:tcPr marL="84406" marR="84406" marT="33231" marB="33231" anchor="ctr" horzOverflow="overflow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비고</a:t>
                      </a:r>
                    </a:p>
                  </a:txBody>
                  <a:tcPr marL="84406" marR="84406" marT="33231" marB="33231" anchor="ctr" horzOverflow="overflow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9750">
                <a:tc rowSpan="3"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홈페이지 </a:t>
                      </a:r>
                      <a:r>
                        <a:rPr kumimoji="1" lang="ko-KR" altLang="en-US" sz="1100" b="1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구축비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marL="84406" marR="84406" marT="33231" marB="33231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홈페이지 제작</a:t>
                      </a:r>
                    </a:p>
                  </a:txBody>
                  <a:tcPr marL="84406" marR="84406" marT="33231" marB="33231" anchor="ctr" horzOverflow="overflow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550,000</a:t>
                      </a:r>
                    </a:p>
                  </a:txBody>
                  <a:tcPr marL="83077" marR="33231" marT="33231" marB="33231" anchor="ctr" horzOverflow="overflow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1000" dirty="0"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디자인 중 </a:t>
                      </a:r>
                      <a:r>
                        <a:rPr lang="ko-KR" altLang="en-US" sz="1000" dirty="0" err="1"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택</a:t>
                      </a:r>
                      <a:r>
                        <a:rPr lang="en-US" altLang="ko-KR" sz="1000" dirty="0"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1 </a:t>
                      </a:r>
                      <a:r>
                        <a:rPr lang="ko-KR" altLang="en-US" sz="1000" dirty="0"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게시판</a:t>
                      </a:r>
                      <a:r>
                        <a:rPr lang="en-US" altLang="ko-KR" sz="1000" dirty="0"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 </a:t>
                      </a:r>
                      <a:r>
                        <a:rPr lang="ko-KR" altLang="en-US" sz="1000" dirty="0"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사진앨범 무한생성 </a:t>
                      </a:r>
                      <a:endParaRPr lang="ko-KR" altLang="en-US" sz="1000" b="0" i="0" u="none" strike="noStrike" dirty="0">
                        <a:solidFill>
                          <a:schemeClr val="tx1"/>
                        </a:solidFill>
                        <a:effectLst/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marL="84406" marR="84406" marT="33231" marB="33231" anchor="ctr" horzOverflow="overflow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97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페이지 추가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marL="84406" marR="84406" marT="33231" marB="33231" anchor="ctr" horzOverflow="overflow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lvl="0" indent="0" algn="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495,000</a:t>
                      </a:r>
                      <a:endParaRPr kumimoji="1" lang="ko-KR" altLang="en-US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marL="83077" marR="33231" marT="33231" marB="33231" anchor="ctr" horzOverflow="overflow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디자인 화면 추가 제작</a:t>
                      </a:r>
                    </a:p>
                  </a:txBody>
                  <a:tcPr marL="84406" marR="84406" marT="33231" marB="33231" anchor="ctr" horzOverflow="overflow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975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DB 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이전</a:t>
                      </a:r>
                      <a:endParaRPr kumimoji="1" lang="en-US" altLang="ko-KR" sz="10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marL="84406" marR="84406" marT="33231" marB="33231" anchor="ctr" horzOverflow="overflow">
                    <a:lnL w="9525" cap="flat" cmpd="sng" algn="ctr">
                      <a:solidFill>
                        <a:schemeClr val="bg1">
                          <a:lumMod val="9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r" rtl="0" fontAlgn="ctr"/>
                      <a:r>
                        <a:rPr lang="en-US" altLang="ko-KR" sz="1000" b="1" i="0" u="none" strike="noStrike" dirty="0"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550,000</a:t>
                      </a:r>
                    </a:p>
                  </a:txBody>
                  <a:tcPr marL="83077" marR="33231" marT="33231" marB="33231" anchor="ctr" horzOverflow="overflow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일반 게시판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+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회원 </a:t>
                      </a:r>
                      <a:r>
                        <a:rPr kumimoji="1" lang="en-US" altLang="ko-KR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+ </a:t>
                      </a:r>
                      <a:r>
                        <a:rPr kumimoji="1" lang="ko-KR" altLang="en-US" sz="10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동영상 게시물 이전</a:t>
                      </a:r>
                    </a:p>
                  </a:txBody>
                  <a:tcPr marL="84406" marR="84406" marT="33231" marB="33231" anchor="ctr" horzOverflow="overflow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71993">
                <a:tc gridSpan="2"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Total</a:t>
                      </a:r>
                      <a:endParaRPr kumimoji="1" lang="ko-KR" altLang="en-US" sz="11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marL="84406" marR="84406" marT="33231" marB="33231" anchor="ctr" horzOverflow="overflow">
                    <a:lnL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65000"/>
                      </a:srgb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algn="ctr" rtl="0" fontAlgn="ctr"/>
                      <a:r>
                        <a:rPr lang="en-US" altLang="ko-KR" sz="1000" b="1" i="0" u="none" strike="noStrike" dirty="0">
                          <a:solidFill>
                            <a:srgbClr val="FF0000"/>
                          </a:solidFill>
                          <a:effectLst/>
                          <a:latin typeface="LG스마트체2.0 Light" panose="020B0600000101010101" pitchFamily="50" charset="-127"/>
                          <a:ea typeface="LG스마트체2.0 Light" panose="020B0600000101010101" pitchFamily="50" charset="-127"/>
                        </a:rPr>
                        <a:t>1,595,000</a:t>
                      </a:r>
                    </a:p>
                  </a:txBody>
                  <a:tcPr marL="83077" marR="33231" marT="33231" marB="33231" anchor="ctr" horzOverflow="overflow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65000"/>
                      </a:srgbClr>
                    </a:solidFill>
                  </a:tcPr>
                </a:tc>
                <a:tc>
                  <a:txBody>
                    <a:bodyPr/>
                    <a:lstStyle>
                      <a:lvl1pPr marL="0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1pPr>
                      <a:lvl2pPr marL="4568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2pPr>
                      <a:lvl3pPr marL="913735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3pPr>
                      <a:lvl4pPr marL="13705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4pPr>
                      <a:lvl5pPr marL="1827467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5pPr>
                      <a:lvl6pPr marL="2284333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6pPr>
                      <a:lvl7pPr marL="2741198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7pPr>
                      <a:lvl8pPr marL="3198066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8pPr>
                      <a:lvl9pPr marL="3654932" algn="l" defTabSz="913735" rtl="0" eaLnBrk="1" latinLnBrk="1" hangingPunct="1">
                        <a:defRPr sz="1700" kern="1200">
                          <a:solidFill>
                            <a:schemeClr val="tx1"/>
                          </a:solidFill>
                          <a:latin typeface="Arial"/>
                          <a:ea typeface="돋움"/>
                        </a:defRPr>
                      </a:lvl9pPr>
                    </a:lstStyle>
                    <a:p>
                      <a:pPr marL="0" marR="0" lvl="0" indent="0" algn="l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1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>
                            <a:lumMod val="50000"/>
                            <a:lumOff val="50000"/>
                          </a:schemeClr>
                        </a:solidFill>
                        <a:effectLst/>
                        <a:latin typeface="LG스마트체2.0 Light" panose="020B0600000101010101" pitchFamily="50" charset="-127"/>
                        <a:ea typeface="LG스마트체2.0 Light" panose="020B0600000101010101" pitchFamily="50" charset="-127"/>
                      </a:endParaRPr>
                    </a:p>
                  </a:txBody>
                  <a:tcPr marL="84406" marR="84406" marT="33231" marB="33231" anchor="ctr" horzOverflow="overflow">
                    <a:lnL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rgbClr val="000000">
                          <a:lumMod val="50000"/>
                          <a:lumOff val="50000"/>
                        </a:srgb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>
                        <a:lumMod val="65000"/>
                      </a:srgb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</a:tbl>
          </a:graphicData>
        </a:graphic>
      </p:graphicFrame>
      <p:cxnSp>
        <p:nvCxnSpPr>
          <p:cNvPr id="15" name="직선 연결선 2">
            <a:extLst>
              <a:ext uri="{FF2B5EF4-FFF2-40B4-BE49-F238E27FC236}">
                <a16:creationId xmlns:a16="http://schemas.microsoft.com/office/drawing/2014/main" id="{441C6BEE-155E-4F6C-B48A-6E7193FE272D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53521" y="664488"/>
            <a:ext cx="9864000" cy="0"/>
          </a:xfrm>
          <a:prstGeom prst="line">
            <a:avLst/>
          </a:prstGeom>
          <a:noFill/>
          <a:ln w="6350" algn="ctr">
            <a:solidFill>
              <a:srgbClr val="4B5E61"/>
            </a:solidFill>
            <a:round/>
            <a:headEnd/>
            <a:tailEnd/>
          </a:ln>
        </p:spPr>
      </p:cxnSp>
      <p:graphicFrame>
        <p:nvGraphicFramePr>
          <p:cNvPr id="5" name="개체 4">
            <a:extLst>
              <a:ext uri="{FF2B5EF4-FFF2-40B4-BE49-F238E27FC236}">
                <a16:creationId xmlns:a16="http://schemas.microsoft.com/office/drawing/2014/main" id="{40D88154-94C0-4F94-8028-91BFF4D3EBE5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2770328"/>
              </p:ext>
            </p:extLst>
          </p:nvPr>
        </p:nvGraphicFramePr>
        <p:xfrm>
          <a:off x="8794228" y="4199845"/>
          <a:ext cx="914400" cy="7715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포장기 셸 개체" showAsIcon="1" r:id="rId3" imgW="914495" imgH="771682" progId="Package">
                  <p:embed/>
                </p:oleObj>
              </mc:Choice>
              <mc:Fallback>
                <p:oleObj name="포장기 셸 개체" showAsIcon="1" r:id="rId3" imgW="914495" imgH="771682" progId="Package">
                  <p:embed/>
                  <p:pic>
                    <p:nvPicPr>
                      <p:cNvPr id="0" name="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8794228" y="4199845"/>
                        <a:ext cx="914400" cy="77152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42708352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54</TotalTime>
  <Words>215</Words>
  <Application>Microsoft Office PowerPoint</Application>
  <PresentationFormat>A4 용지(210x297mm)</PresentationFormat>
  <Paragraphs>31</Paragraphs>
  <Slides>2</Slides>
  <Notes>0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2</vt:i4>
      </vt:variant>
    </vt:vector>
  </HeadingPairs>
  <TitlesOfParts>
    <vt:vector size="11" baseType="lpstr">
      <vt:lpstr>LG스마트체2.0 Light</vt:lpstr>
      <vt:lpstr>LG스마트체2.0 Regular</vt:lpstr>
      <vt:lpstr>맑은 고딕</vt:lpstr>
      <vt:lpstr>Arial</vt:lpstr>
      <vt:lpstr>Calibri</vt:lpstr>
      <vt:lpstr>Calibri Light</vt:lpstr>
      <vt:lpstr>Wingdings</vt:lpstr>
      <vt:lpstr>Office 테마</vt:lpstr>
      <vt:lpstr>패키지</vt:lpstr>
      <vt:lpstr>홈페이지 변경 안</vt:lpstr>
      <vt:lpstr>1. 홈페이지 현황/ 변경 배경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홈페이지 변경 안</dc:title>
  <dc:creator>임인영/책임연구원/TV개발기획실</dc:creator>
  <cp:lastModifiedBy>임인영/책임연구원/TV개발기획실</cp:lastModifiedBy>
  <cp:revision>26</cp:revision>
  <dcterms:created xsi:type="dcterms:W3CDTF">2025-11-07T01:37:50Z</dcterms:created>
  <dcterms:modified xsi:type="dcterms:W3CDTF">2025-11-14T07:39:11Z</dcterms:modified>
</cp:coreProperties>
</file>